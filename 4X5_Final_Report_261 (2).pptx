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sldIdLst>
    <p:sldId id="256" r:id="rId2"/>
    <p:sldId id="257" r:id="rId3"/>
    <p:sldId id="392" r:id="rId4"/>
    <p:sldId id="290" r:id="rId5"/>
    <p:sldId id="267" r:id="rId6"/>
    <p:sldId id="258" r:id="rId7"/>
    <p:sldId id="288" r:id="rId8"/>
    <p:sldId id="260" r:id="rId9"/>
    <p:sldId id="265" r:id="rId10"/>
    <p:sldId id="289" r:id="rId11"/>
    <p:sldId id="266" r:id="rId12"/>
    <p:sldId id="292" r:id="rId13"/>
    <p:sldId id="269" r:id="rId14"/>
    <p:sldId id="291" r:id="rId15"/>
    <p:sldId id="270" r:id="rId16"/>
    <p:sldId id="262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740" y="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asat Khan" userId="826ac62dfbb52e43" providerId="LiveId" clId="{1B7AAFD6-4521-465B-88B2-57DA5EEC19DB}"/>
    <pc:docChg chg="undo custSel addSld delSld modSld">
      <pc:chgData name="Riasat Khan" userId="826ac62dfbb52e43" providerId="LiveId" clId="{1B7AAFD6-4521-465B-88B2-57DA5EEC19DB}" dt="2026-04-23T12:23:09.863" v="1317" actId="20577"/>
      <pc:docMkLst>
        <pc:docMk/>
      </pc:docMkLst>
      <pc:sldChg chg="modSp mod">
        <pc:chgData name="Riasat Khan" userId="826ac62dfbb52e43" providerId="LiveId" clId="{1B7AAFD6-4521-465B-88B2-57DA5EEC19DB}" dt="2026-04-23T12:23:09.863" v="1317" actId="20577"/>
        <pc:sldMkLst>
          <pc:docMk/>
          <pc:sldMk cId="37290295" sldId="256"/>
        </pc:sldMkLst>
        <pc:spChg chg="mod">
          <ac:chgData name="Riasat Khan" userId="826ac62dfbb52e43" providerId="LiveId" clId="{1B7AAFD6-4521-465B-88B2-57DA5EEC19DB}" dt="2026-04-23T12:23:09.863" v="1317" actId="20577"/>
          <ac:spMkLst>
            <pc:docMk/>
            <pc:sldMk cId="37290295" sldId="256"/>
            <ac:spMk id="2" creationId="{00000000-0000-0000-0000-000000000000}"/>
          </ac:spMkLst>
        </pc:spChg>
        <pc:spChg chg="mod">
          <ac:chgData name="Riasat Khan" userId="826ac62dfbb52e43" providerId="LiveId" clId="{1B7AAFD6-4521-465B-88B2-57DA5EEC19DB}" dt="2026-04-23T12:08:57.244" v="970" actId="20577"/>
          <ac:spMkLst>
            <pc:docMk/>
            <pc:sldMk cId="37290295" sldId="256"/>
            <ac:spMk id="3" creationId="{00000000-0000-0000-0000-000000000000}"/>
          </ac:spMkLst>
        </pc:spChg>
      </pc:sldChg>
      <pc:sldChg chg="addSp modSp mod">
        <pc:chgData name="Riasat Khan" userId="826ac62dfbb52e43" providerId="LiveId" clId="{1B7AAFD6-4521-465B-88B2-57DA5EEC19DB}" dt="2026-04-23T12:22:52.892" v="1313" actId="1076"/>
        <pc:sldMkLst>
          <pc:docMk/>
          <pc:sldMk cId="3429979730" sldId="257"/>
        </pc:sldMkLst>
        <pc:spChg chg="mod">
          <ac:chgData name="Riasat Khan" userId="826ac62dfbb52e43" providerId="LiveId" clId="{1B7AAFD6-4521-465B-88B2-57DA5EEC19DB}" dt="2026-04-23T12:12:07.791" v="1040" actId="6549"/>
          <ac:spMkLst>
            <pc:docMk/>
            <pc:sldMk cId="3429979730" sldId="257"/>
            <ac:spMk id="2" creationId="{00000000-0000-0000-0000-000000000000}"/>
          </ac:spMkLst>
        </pc:spChg>
        <pc:spChg chg="mod">
          <ac:chgData name="Riasat Khan" userId="826ac62dfbb52e43" providerId="LiveId" clId="{1B7AAFD6-4521-465B-88B2-57DA5EEC19DB}" dt="2026-04-23T12:22:03.256" v="1311" actId="20577"/>
          <ac:spMkLst>
            <pc:docMk/>
            <pc:sldMk cId="3429979730" sldId="257"/>
            <ac:spMk id="3" creationId="{00000000-0000-0000-0000-000000000000}"/>
          </ac:spMkLst>
        </pc:spChg>
        <pc:picChg chg="add mod">
          <ac:chgData name="Riasat Khan" userId="826ac62dfbb52e43" providerId="LiveId" clId="{1B7AAFD6-4521-465B-88B2-57DA5EEC19DB}" dt="2026-04-23T12:22:52.892" v="1313" actId="1076"/>
          <ac:picMkLst>
            <pc:docMk/>
            <pc:sldMk cId="3429979730" sldId="257"/>
            <ac:picMk id="5" creationId="{B9E155F5-4930-ACC7-52DA-D42A7F80A565}"/>
          </ac:picMkLst>
        </pc:picChg>
      </pc:sldChg>
      <pc:sldChg chg="modSp mod">
        <pc:chgData name="Riasat Khan" userId="826ac62dfbb52e43" providerId="LiveId" clId="{1B7AAFD6-4521-465B-88B2-57DA5EEC19DB}" dt="2026-04-23T12:20:08.818" v="1256" actId="207"/>
        <pc:sldMkLst>
          <pc:docMk/>
          <pc:sldMk cId="1745218358" sldId="258"/>
        </pc:sldMkLst>
        <pc:spChg chg="mod">
          <ac:chgData name="Riasat Khan" userId="826ac62dfbb52e43" providerId="LiveId" clId="{1B7AAFD6-4521-465B-88B2-57DA5EEC19DB}" dt="2026-04-23T12:20:08.818" v="1256" actId="207"/>
          <ac:spMkLst>
            <pc:docMk/>
            <pc:sldMk cId="1745218358" sldId="258"/>
            <ac:spMk id="3" creationId="{00000000-0000-0000-0000-000000000000}"/>
          </ac:spMkLst>
        </pc:spChg>
      </pc:sldChg>
      <pc:sldChg chg="modSp mod">
        <pc:chgData name="Riasat Khan" userId="826ac62dfbb52e43" providerId="LiveId" clId="{1B7AAFD6-4521-465B-88B2-57DA5EEC19DB}" dt="2026-04-23T12:20:29.750" v="1274" actId="20577"/>
        <pc:sldMkLst>
          <pc:docMk/>
          <pc:sldMk cId="1574642949" sldId="260"/>
        </pc:sldMkLst>
        <pc:spChg chg="mod">
          <ac:chgData name="Riasat Khan" userId="826ac62dfbb52e43" providerId="LiveId" clId="{1B7AAFD6-4521-465B-88B2-57DA5EEC19DB}" dt="2026-04-23T12:20:29.750" v="1274" actId="20577"/>
          <ac:spMkLst>
            <pc:docMk/>
            <pc:sldMk cId="1574642949" sldId="260"/>
            <ac:spMk id="3" creationId="{00000000-0000-0000-0000-000000000000}"/>
          </ac:spMkLst>
        </pc:spChg>
      </pc:sldChg>
      <pc:sldChg chg="modSp mod">
        <pc:chgData name="Riasat Khan" userId="826ac62dfbb52e43" providerId="LiveId" clId="{1B7AAFD6-4521-465B-88B2-57DA5EEC19DB}" dt="2026-04-23T12:21:37.886" v="1280" actId="14100"/>
        <pc:sldMkLst>
          <pc:docMk/>
          <pc:sldMk cId="1364047251" sldId="262"/>
        </pc:sldMkLst>
        <pc:spChg chg="mod">
          <ac:chgData name="Riasat Khan" userId="826ac62dfbb52e43" providerId="LiveId" clId="{1B7AAFD6-4521-465B-88B2-57DA5EEC19DB}" dt="2026-04-23T12:21:37.886" v="1280" actId="14100"/>
          <ac:spMkLst>
            <pc:docMk/>
            <pc:sldMk cId="1364047251" sldId="262"/>
            <ac:spMk id="3" creationId="{00000000-0000-0000-0000-000000000000}"/>
          </ac:spMkLst>
        </pc:spChg>
      </pc:sldChg>
      <pc:sldChg chg="modSp mod">
        <pc:chgData name="Riasat Khan" userId="826ac62dfbb52e43" providerId="LiveId" clId="{1B7AAFD6-4521-465B-88B2-57DA5EEC19DB}" dt="2026-04-23T12:19:12.936" v="1163" actId="20577"/>
        <pc:sldMkLst>
          <pc:docMk/>
          <pc:sldMk cId="2172862156" sldId="267"/>
        </pc:sldMkLst>
        <pc:spChg chg="mod">
          <ac:chgData name="Riasat Khan" userId="826ac62dfbb52e43" providerId="LiveId" clId="{1B7AAFD6-4521-465B-88B2-57DA5EEC19DB}" dt="2026-04-23T12:19:12.936" v="1163" actId="20577"/>
          <ac:spMkLst>
            <pc:docMk/>
            <pc:sldMk cId="2172862156" sldId="267"/>
            <ac:spMk id="2" creationId="{00000000-0000-0000-0000-000000000000}"/>
          </ac:spMkLst>
        </pc:spChg>
      </pc:sldChg>
      <pc:sldChg chg="addSp delSp modSp mod">
        <pc:chgData name="Riasat Khan" userId="826ac62dfbb52e43" providerId="LiveId" clId="{1B7AAFD6-4521-465B-88B2-57DA5EEC19DB}" dt="2026-04-19T14:09:37.111" v="957" actId="14100"/>
        <pc:sldMkLst>
          <pc:docMk/>
          <pc:sldMk cId="1390900988" sldId="272"/>
        </pc:sldMkLst>
        <pc:spChg chg="add mod">
          <ac:chgData name="Riasat Khan" userId="826ac62dfbb52e43" providerId="LiveId" clId="{1B7AAFD6-4521-465B-88B2-57DA5EEC19DB}" dt="2026-04-19T14:08:50.265" v="896" actId="6549"/>
          <ac:spMkLst>
            <pc:docMk/>
            <pc:sldMk cId="1390900988" sldId="272"/>
            <ac:spMk id="4" creationId="{416F2404-26F6-8F28-DEC8-595AE8E5332C}"/>
          </ac:spMkLst>
        </pc:spChg>
        <pc:picChg chg="add mod">
          <ac:chgData name="Riasat Khan" userId="826ac62dfbb52e43" providerId="LiveId" clId="{1B7AAFD6-4521-465B-88B2-57DA5EEC19DB}" dt="2026-04-19T14:09:37.111" v="957" actId="14100"/>
          <ac:picMkLst>
            <pc:docMk/>
            <pc:sldMk cId="1390900988" sldId="272"/>
            <ac:picMk id="11" creationId="{AE64B926-F974-90D6-AFEF-2464E1646585}"/>
          </ac:picMkLst>
        </pc:picChg>
      </pc:sldChg>
      <pc:sldChg chg="delSp modSp add mod">
        <pc:chgData name="Riasat Khan" userId="826ac62dfbb52e43" providerId="LiveId" clId="{1B7AAFD6-4521-465B-88B2-57DA5EEC19DB}" dt="2026-04-19T14:10:59.208" v="960" actId="478"/>
        <pc:sldMkLst>
          <pc:docMk/>
          <pc:sldMk cId="4176844320" sldId="292"/>
        </pc:sldMkLst>
        <pc:spChg chg="mod">
          <ac:chgData name="Riasat Khan" userId="826ac62dfbb52e43" providerId="LiveId" clId="{1B7AAFD6-4521-465B-88B2-57DA5EEC19DB}" dt="2026-04-19T14:10:57.492" v="959"/>
          <ac:spMkLst>
            <pc:docMk/>
            <pc:sldMk cId="4176844320" sldId="292"/>
            <ac:spMk id="3" creationId="{11AD1687-6463-3919-2553-F1919F407F62}"/>
          </ac:spMkLst>
        </pc:spChg>
      </pc:sldChg>
      <pc:sldChg chg="modSp add mod">
        <pc:chgData name="Riasat Khan" userId="826ac62dfbb52e43" providerId="LiveId" clId="{1B7AAFD6-4521-465B-88B2-57DA5EEC19DB}" dt="2026-04-23T12:12:25.459" v="1047" actId="207"/>
        <pc:sldMkLst>
          <pc:docMk/>
          <pc:sldMk cId="2571014035" sldId="392"/>
        </pc:sldMkLst>
        <pc:spChg chg="mod">
          <ac:chgData name="Riasat Khan" userId="826ac62dfbb52e43" providerId="LiveId" clId="{1B7AAFD6-4521-465B-88B2-57DA5EEC19DB}" dt="2026-04-23T12:12:25.459" v="1047" actId="207"/>
          <ac:spMkLst>
            <pc:docMk/>
            <pc:sldMk cId="2571014035" sldId="392"/>
            <ac:spMk id="5" creationId="{32BC34BA-D4D8-2826-29AF-4CBBBEE2C5D5}"/>
          </ac:spMkLst>
        </pc:spChg>
      </pc:sldChg>
      <pc:sldChg chg="modSp add mod">
        <pc:chgData name="Riasat Khan" userId="826ac62dfbb52e43" providerId="LiveId" clId="{1B7AAFD6-4521-465B-88B2-57DA5EEC19DB}" dt="2026-04-23T12:16:55.441" v="1159" actId="1036"/>
        <pc:sldMkLst>
          <pc:docMk/>
          <pc:sldMk cId="2235821038" sldId="393"/>
        </pc:sldMkLst>
        <pc:spChg chg="mod">
          <ac:chgData name="Riasat Khan" userId="826ac62dfbb52e43" providerId="LiveId" clId="{1B7AAFD6-4521-465B-88B2-57DA5EEC19DB}" dt="2026-04-23T12:11:49.995" v="1038" actId="20577"/>
          <ac:spMkLst>
            <pc:docMk/>
            <pc:sldMk cId="2235821038" sldId="393"/>
            <ac:spMk id="2" creationId="{411C969C-5A71-2631-F641-4DA06B698893}"/>
          </ac:spMkLst>
        </pc:spChg>
        <pc:spChg chg="mod">
          <ac:chgData name="Riasat Khan" userId="826ac62dfbb52e43" providerId="LiveId" clId="{1B7AAFD6-4521-465B-88B2-57DA5EEC19DB}" dt="2026-04-23T12:16:55.441" v="1159" actId="1036"/>
          <ac:spMkLst>
            <pc:docMk/>
            <pc:sldMk cId="2235821038" sldId="393"/>
            <ac:spMk id="5" creationId="{C9193FF6-9165-DC7B-8F61-20BD3047170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8B72-D384-4F3F-9040-7379602035E2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C7D7B-A791-4F8E-B2C0-5834A81C9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014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8B72-D384-4F3F-9040-7379602035E2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C7D7B-A791-4F8E-B2C0-5834A81C9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296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8B72-D384-4F3F-9040-7379602035E2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C7D7B-A791-4F8E-B2C0-5834A81C9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338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8B72-D384-4F3F-9040-7379602035E2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C7D7B-A791-4F8E-B2C0-5834A81C9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692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8B72-D384-4F3F-9040-7379602035E2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C7D7B-A791-4F8E-B2C0-5834A81C9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438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8B72-D384-4F3F-9040-7379602035E2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C7D7B-A791-4F8E-B2C0-5834A81C9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34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8B72-D384-4F3F-9040-7379602035E2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C7D7B-A791-4F8E-B2C0-5834A81C9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042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8B72-D384-4F3F-9040-7379602035E2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C7D7B-A791-4F8E-B2C0-5834A81C9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285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8B72-D384-4F3F-9040-7379602035E2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C7D7B-A791-4F8E-B2C0-5834A81C9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286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8B72-D384-4F3F-9040-7379602035E2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C7D7B-A791-4F8E-B2C0-5834A81C9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190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8B72-D384-4F3F-9040-7379602035E2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C7D7B-A791-4F8E-B2C0-5834A81C9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008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18B72-D384-4F3F-9040-7379602035E2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2C7D7B-A791-4F8E-B2C0-5834A81C9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987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/>
              <a:t>CSE445/465 </a:t>
            </a:r>
            <a:r>
              <a:rPr lang="en-US" b="1" dirty="0"/>
              <a:t>Final Report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24/04/2026</a:t>
            </a:r>
          </a:p>
        </p:txBody>
      </p:sp>
    </p:spTree>
    <p:extLst>
      <p:ext uri="{BB962C8B-B14F-4D97-AF65-F5344CB8AC3E}">
        <p14:creationId xmlns:p14="http://schemas.microsoft.com/office/powerpoint/2010/main" val="37290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/>
              <a:t>Final Report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14400"/>
            <a:ext cx="9144000" cy="5943600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dirty="0"/>
          </a:p>
          <a:p>
            <a:r>
              <a:rPr lang="en-US" dirty="0"/>
              <a:t>IEEE Journal/Conference Single Column Format</a:t>
            </a:r>
          </a:p>
          <a:p>
            <a:r>
              <a:rPr lang="en-US" dirty="0"/>
              <a:t>IEEE LaTeX format MUST</a:t>
            </a:r>
          </a:p>
          <a:p>
            <a:r>
              <a:rPr lang="en-US" dirty="0"/>
              <a:t>Minimum 6 pages in length</a:t>
            </a:r>
          </a:p>
          <a:p>
            <a:endParaRPr lang="en-US" dirty="0"/>
          </a:p>
        </p:txBody>
      </p:sp>
      <p:pic>
        <p:nvPicPr>
          <p:cNvPr id="5" name="Graphic 4" descr="Close with solid fill">
            <a:extLst>
              <a:ext uri="{FF2B5EF4-FFF2-40B4-BE49-F238E27FC236}">
                <a16:creationId xmlns:a16="http://schemas.microsoft.com/office/drawing/2014/main" id="{B9E155F5-4930-ACC7-52DA-D42A7F80A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81600" y="42672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979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2BDA3-023E-70A9-DC1B-6BD71DD13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C4139-1990-6146-3852-4925C39A0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86967"/>
          </a:xfrm>
        </p:spPr>
        <p:txBody>
          <a:bodyPr>
            <a:normAutofit/>
          </a:bodyPr>
          <a:lstStyle/>
          <a:p>
            <a:r>
              <a:rPr lang="en-US" dirty="0"/>
              <a:t>CSE465 Final Report</a:t>
            </a:r>
            <a:endParaRPr lang="fr-FR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EF71E1-E2DE-EEFC-F1CA-2C3F082C9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2BC34BA-D4D8-2826-29AF-4CBBBEE2C5D5}"/>
                  </a:ext>
                </a:extLst>
              </p:cNvPr>
              <p:cNvSpPr txBox="1"/>
              <p:nvPr/>
            </p:nvSpPr>
            <p:spPr>
              <a:xfrm>
                <a:off x="0" y="663088"/>
                <a:ext cx="9144000" cy="600164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Due: </a:t>
                </a:r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May 12, Tuesday, 11:59 PM</a:t>
                </a:r>
                <a:endParaRPr 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AutoNum type="arabicPeriod"/>
                </a:pPr>
                <a:r>
                  <a:rPr lang="en-US" sz="2400" dirty="0">
                    <a:latin typeface="Times New Roman"/>
                    <a:cs typeface="Times New Roman"/>
                  </a:rPr>
                  <a:t>Apply ALL the preprocessing techniques for the dataset.</a:t>
                </a:r>
                <a:endParaRPr lang="en-US" sz="2400" dirty="0">
                  <a:latin typeface="Aptos"/>
                  <a:cs typeface="Times New Roman"/>
                </a:endParaRPr>
              </a:p>
              <a:p>
                <a:pPr marL="457200" indent="-457200">
                  <a:buAutoNum type="arabicPeriod"/>
                </a:pPr>
                <a:r>
                  <a:rPr lang="en-US" sz="2400" dirty="0">
                    <a:latin typeface="Times New Roman"/>
                    <a:cs typeface="Times New Roman"/>
                  </a:rPr>
                  <a:t>Apply pre-trained DL models, one model for each member.</a:t>
                </a:r>
                <a:endParaRPr lang="en-US" sz="2400" dirty="0"/>
              </a:p>
              <a:p>
                <a:pPr marL="457200" indent="-457200">
                  <a:buAutoNum type="arabicPeriod"/>
                </a:pPr>
                <a:r>
                  <a:rPr lang="en-US" sz="2400" dirty="0">
                    <a:latin typeface="Times New Roman"/>
                    <a:cs typeface="Times New Roman"/>
                  </a:rPr>
                  <a:t>Apply AT LEAST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𝑋</m:t>
                    </m:r>
                  </m:oMath>
                </a14:m>
                <a:r>
                  <a:rPr lang="en-US" sz="2400" dirty="0">
                    <a:latin typeface="Times New Roman"/>
                    <a:cs typeface="Times New Roman"/>
                  </a:rPr>
                  <a:t> Transformer models, ViT, Swin, Dino, PVT, </a:t>
                </a:r>
                <a:r>
                  <a:rPr lang="en-US" sz="2400" dirty="0" err="1">
                    <a:latin typeface="Times New Roman"/>
                    <a:cs typeface="Times New Roman"/>
                  </a:rPr>
                  <a:t>CvT</a:t>
                </a:r>
                <a:r>
                  <a:rPr lang="en-US" sz="2400" dirty="0">
                    <a:latin typeface="Times New Roman"/>
                    <a:cs typeface="Times New Roman"/>
                  </a:rPr>
                  <a:t>, etc.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/>
                      </a:rPr>
                      <m:t>𝑋</m:t>
                    </m:r>
                  </m:oMath>
                </a14:m>
                <a:r>
                  <a:rPr lang="en-US" sz="2400" dirty="0">
                    <a:latin typeface="Times New Roman"/>
                    <a:cs typeface="Times New Roman"/>
                  </a:rPr>
                  <a:t>: # of group members</a:t>
                </a:r>
              </a:p>
              <a:p>
                <a:pPr marL="457200" indent="-457200">
                  <a:buAutoNum type="arabicPeriod"/>
                </a:pPr>
                <a:r>
                  <a:rPr lang="en-US" sz="2400" dirty="0">
                    <a:latin typeface="Times New Roman"/>
                    <a:cs typeface="Times New Roman"/>
                  </a:rPr>
                  <a:t>Find accuracy, precision, recall, F1 score, etc. of ALL applied models.</a:t>
                </a:r>
              </a:p>
              <a:p>
                <a:pPr marL="457200" indent="-457200">
                  <a:buAutoNum type="arabicPeriod"/>
                </a:pPr>
                <a:r>
                  <a:rPr lang="en-US" sz="2400" dirty="0">
                    <a:latin typeface="Times New Roman"/>
                    <a:cs typeface="Times New Roman"/>
                  </a:rPr>
                  <a:t>Find model size, # of parameters and training time per epoch or total training time of ALL applied models.</a:t>
                </a:r>
                <a:endParaRPr lang="en-US" sz="2400" dirty="0"/>
              </a:p>
              <a:p>
                <a:pPr marL="457200" indent="-457200">
                  <a:buAutoNum type="arabicPeriod"/>
                </a:pPr>
                <a:r>
                  <a:rPr lang="en-US" sz="2400" dirty="0">
                    <a:latin typeface="Times New Roman"/>
                    <a:cs typeface="Times New Roman"/>
                  </a:rPr>
                  <a:t>Plot Normalized Confusion Matrix, Training and Validation Loss and Accuracy vs. epochs for the BEST model. </a:t>
                </a:r>
                <a:endParaRPr lang="en-US" sz="2400" dirty="0"/>
              </a:p>
              <a:p>
                <a:pPr marL="457200" indent="-457200">
                  <a:buAutoNum type="arabicPeriod"/>
                </a:pPr>
                <a:r>
                  <a:rPr lang="en-US" sz="2400" dirty="0">
                    <a:latin typeface="Times New Roman"/>
                    <a:cs typeface="Times New Roman"/>
                  </a:rPr>
                  <a:t>Apply data augmentation techniques for training samples and find the results similar to #3.</a:t>
                </a:r>
                <a:endParaRPr lang="en-US" sz="2400" dirty="0"/>
              </a:p>
              <a:p>
                <a:pPr marL="457200" indent="-457200">
                  <a:buAutoNum type="arabicPeriod"/>
                </a:pPr>
                <a:r>
                  <a:rPr lang="en-US" sz="2400" dirty="0">
                    <a:latin typeface="Times New Roman"/>
                    <a:cs typeface="Times New Roman"/>
                  </a:rPr>
                  <a:t>Apply Novelties and find the results similar to #3.</a:t>
                </a:r>
              </a:p>
              <a:p>
                <a:pPr marL="457200" indent="-457200">
                  <a:buAutoNum type="arabicPeriod"/>
                </a:pPr>
                <a:r>
                  <a:rPr lang="en-US" sz="2400" dirty="0">
                    <a:latin typeface="Times New Roman"/>
                    <a:cs typeface="Times New Roman"/>
                  </a:rPr>
                  <a:t>Apply XAI for the BEST model</a:t>
                </a:r>
              </a:p>
              <a:p>
                <a:pPr marL="457200" indent="-457200">
                  <a:buAutoNum type="arabicPeriod"/>
                </a:pPr>
                <a:r>
                  <a:rPr lang="en-US" sz="2400" dirty="0">
                    <a:latin typeface="Times New Roman"/>
                    <a:cs typeface="Times New Roman"/>
                  </a:rPr>
                  <a:t>Apply Ablation Study for the BEST model.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2BC34BA-D4D8-2826-29AF-4CBBBEE2C5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63088"/>
                <a:ext cx="9144000" cy="6001643"/>
              </a:xfrm>
              <a:prstGeom prst="rect">
                <a:avLst/>
              </a:prstGeom>
              <a:blipFill>
                <a:blip r:embed="rId2"/>
                <a:stretch>
                  <a:fillRect l="-867" t="-813" r="-1733" b="-14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1014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8FFEB-757C-9373-2EE7-1B644E34A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46B19-9F37-F608-D838-9E9180C3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/>
              <a:t>LaTeX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44C28-DA8F-73F0-0CA2-70521E82E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14400"/>
            <a:ext cx="9144000" cy="5943600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Use Overleaf: MUST</a:t>
            </a:r>
          </a:p>
          <a:p>
            <a:r>
              <a:rPr lang="en-US" dirty="0"/>
              <a:t>Use IEEE single-column format: \</a:t>
            </a:r>
            <a:r>
              <a:rPr lang="en-US" dirty="0" err="1"/>
              <a:t>documentclass</a:t>
            </a:r>
            <a:r>
              <a:rPr lang="en-US" dirty="0"/>
              <a:t>[</a:t>
            </a:r>
            <a:r>
              <a:rPr lang="en-US" dirty="0" err="1"/>
              <a:t>journal,onecolumn</a:t>
            </a:r>
            <a:r>
              <a:rPr lang="en-US" dirty="0"/>
              <a:t>]{</a:t>
            </a:r>
            <a:r>
              <a:rPr lang="en-US" dirty="0" err="1"/>
              <a:t>IEEEtran</a:t>
            </a:r>
            <a:r>
              <a:rPr lang="en-US" dirty="0"/>
              <a:t>}</a:t>
            </a:r>
          </a:p>
          <a:p>
            <a:r>
              <a:rPr lang="en-US" dirty="0"/>
              <a:t>Cite Tables and Figures automatically with \label{} and \ref{}</a:t>
            </a:r>
          </a:p>
          <a:p>
            <a:r>
              <a:rPr lang="en-US" dirty="0"/>
              <a:t>Use \begin{equation} and \end{equation} for all the equations</a:t>
            </a:r>
          </a:p>
          <a:p>
            <a:r>
              <a:rPr lang="en-US" dirty="0"/>
              <a:t>Use .</a:t>
            </a:r>
            <a:r>
              <a:rPr lang="en-US" dirty="0" err="1"/>
              <a:t>bibtex</a:t>
            </a:r>
            <a:r>
              <a:rPr lang="en-US" dirty="0"/>
              <a:t> for the References</a:t>
            </a:r>
          </a:p>
          <a:p>
            <a:r>
              <a:rPr lang="en-US" dirty="0"/>
              <a:t>Use \</a:t>
            </a:r>
            <a:r>
              <a:rPr lang="en-US" dirty="0" err="1"/>
              <a:t>bibliographystyle</a:t>
            </a:r>
            <a:r>
              <a:rPr lang="en-US" dirty="0"/>
              <a:t>{</a:t>
            </a:r>
            <a:r>
              <a:rPr lang="en-US" dirty="0" err="1"/>
              <a:t>IEEEtran</a:t>
            </a:r>
            <a:r>
              <a:rPr lang="en-US" dirty="0"/>
              <a:t>} for citing the references</a:t>
            </a:r>
          </a:p>
          <a:p>
            <a:r>
              <a:rPr lang="en-US" dirty="0"/>
              <a:t>Submit </a:t>
            </a:r>
            <a:r>
              <a:rPr lang="en-US" dirty="0">
                <a:solidFill>
                  <a:srgbClr val="FF0000"/>
                </a:solidFill>
              </a:rPr>
              <a:t>LaTeX link with edit access </a:t>
            </a:r>
            <a:r>
              <a:rPr lang="en-US" dirty="0"/>
              <a:t>in Canvas</a:t>
            </a:r>
          </a:p>
          <a:p>
            <a:r>
              <a:rPr lang="en-US" dirty="0"/>
              <a:t>LaTeX Error: Not Allowed. Warning: Allowed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629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/>
              <a:t>CSE445/465 Final Report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14400"/>
            <a:ext cx="9144000" cy="5943600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Abstract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Keywords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Proposed System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4.1: Dataset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4.2: Dataset Preprocessing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4.3: Applied Models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5. Results and Discussion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5.1: Ablation Study </a:t>
            </a:r>
          </a:p>
          <a:p>
            <a:pPr marL="0" indent="0">
              <a:buNone/>
            </a:pPr>
            <a:r>
              <a:rPr lang="en-US" dirty="0"/>
              <a:t>6. Conclusions</a:t>
            </a:r>
          </a:p>
          <a:p>
            <a:pPr marL="0" indent="0">
              <a:buNone/>
            </a:pPr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172862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All papers must include an abstract and a set of index terms</a:t>
            </a:r>
          </a:p>
          <a:p>
            <a:r>
              <a:rPr lang="en-US" dirty="0"/>
              <a:t>Main work of the paper in a concise paragraph</a:t>
            </a:r>
          </a:p>
          <a:p>
            <a:r>
              <a:rPr lang="en-US" dirty="0"/>
              <a:t>Approximately 200 - 300 words long</a:t>
            </a:r>
          </a:p>
          <a:p>
            <a:r>
              <a:rPr lang="en-US" dirty="0">
                <a:solidFill>
                  <a:srgbClr val="FF0000"/>
                </a:solidFill>
              </a:rPr>
              <a:t>Write about dataset, preprocessing, applied models, results, ablation study, XAI, etc</a:t>
            </a:r>
            <a:r>
              <a:rPr lang="en-US" dirty="0"/>
              <a:t>.</a:t>
            </a:r>
          </a:p>
          <a:p>
            <a:r>
              <a:rPr lang="en-US" dirty="0"/>
              <a:t>Do not cite references or use abbreviations, symbols, equations in the abstract</a:t>
            </a:r>
          </a:p>
          <a:p>
            <a:r>
              <a:rPr lang="en-US" dirty="0"/>
              <a:t>Abstract will be copied and included in the conference proceedings or journal’s webpage</a:t>
            </a:r>
          </a:p>
          <a:p>
            <a:r>
              <a:rPr lang="en-US" dirty="0"/>
              <a:t>Keywords – main topics in alphabetical order</a:t>
            </a:r>
          </a:p>
        </p:txBody>
      </p:sp>
    </p:spTree>
    <p:extLst>
      <p:ext uri="{BB962C8B-B14F-4D97-AF65-F5344CB8AC3E}">
        <p14:creationId xmlns:p14="http://schemas.microsoft.com/office/powerpoint/2010/main" val="1745218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17"/>
            <a:ext cx="8229600" cy="1143000"/>
          </a:xfrm>
        </p:spPr>
        <p:txBody>
          <a:bodyPr/>
          <a:lstStyle/>
          <a:p>
            <a:r>
              <a:rPr lang="en-US" dirty="0"/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70280"/>
            <a:ext cx="9144000" cy="588708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Concise summary with an overview of the study's key elements</a:t>
            </a:r>
          </a:p>
          <a:p>
            <a:r>
              <a:rPr lang="en-US" dirty="0"/>
              <a:t>Common lengths range from 200 to 300 words.</a:t>
            </a:r>
          </a:p>
          <a:p>
            <a:pPr algn="l">
              <a:buFont typeface="+mj-lt"/>
              <a:buAutoNum type="arabicPeriod"/>
            </a:pPr>
            <a:r>
              <a:rPr lang="en-US" i="0" dirty="0">
                <a:effectLst/>
              </a:rPr>
              <a:t>Research Purpose or Objective: Begin by stating the primary goal or purpose of the research. What problem or question does the study aim to address?</a:t>
            </a:r>
          </a:p>
          <a:p>
            <a:pPr algn="l">
              <a:buFont typeface="+mj-lt"/>
              <a:buAutoNum type="arabicPeriod"/>
            </a:pPr>
            <a:r>
              <a:rPr lang="en-US" i="0" dirty="0">
                <a:effectLst/>
              </a:rPr>
              <a:t>Methodology: Provide a brief description of the research methods and techniques used to conduct the study. Mention the research design, data collection methods, and any key tools or instruments used.</a:t>
            </a:r>
          </a:p>
          <a:p>
            <a:pPr algn="l">
              <a:buFont typeface="+mj-lt"/>
              <a:buAutoNum type="arabicPeriod"/>
            </a:pPr>
            <a:r>
              <a:rPr lang="en-US" i="0" dirty="0">
                <a:effectLst/>
              </a:rPr>
              <a:t>Results: Summarize the main findings or outcomes of the research. Highlight the most important data, statistics, or trends that were discovered during the study.</a:t>
            </a:r>
          </a:p>
          <a:p>
            <a:pPr algn="l">
              <a:buFont typeface="+mj-lt"/>
              <a:buAutoNum type="arabicPeriod"/>
            </a:pPr>
            <a:r>
              <a:rPr lang="en-US" i="0" dirty="0">
                <a:effectLst/>
              </a:rPr>
              <a:t>Conclusion: Present the conclusions or implications of the research. What are the key takeaways from the study, and how do they relate to the research objective?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047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First paragraph: motivation of your capstone project or why you have chosen the specific project</a:t>
            </a:r>
          </a:p>
          <a:p>
            <a:r>
              <a:rPr lang="en-US" dirty="0">
                <a:solidFill>
                  <a:srgbClr val="FF0000"/>
                </a:solidFill>
              </a:rPr>
              <a:t>Each group member has to review at least one journal (recommended) or conference paper individually</a:t>
            </a:r>
            <a:r>
              <a:rPr lang="en-US" dirty="0"/>
              <a:t>. </a:t>
            </a:r>
          </a:p>
          <a:p>
            <a:r>
              <a:rPr lang="en-US" dirty="0"/>
              <a:t>Introduction - Already works done on this topic with proper references, e.g., [1], [2]</a:t>
            </a:r>
          </a:p>
          <a:p>
            <a:r>
              <a:rPr lang="en-US" dirty="0">
                <a:solidFill>
                  <a:srgbClr val="FF0000"/>
                </a:solidFill>
              </a:rPr>
              <a:t>End of Literature Review: Discuss the existing gaps, limitations and weaknesses of the related works</a:t>
            </a:r>
          </a:p>
          <a:p>
            <a:r>
              <a:rPr lang="en-US" dirty="0"/>
              <a:t>Brief description of YOUR WORK in 3-4 paragraphs: Second-last paragraph</a:t>
            </a:r>
          </a:p>
          <a:p>
            <a:r>
              <a:rPr lang="en-US" dirty="0"/>
              <a:t>Last paragraph – describes different sections of the paper</a:t>
            </a:r>
          </a:p>
        </p:txBody>
      </p:sp>
    </p:spTree>
    <p:extLst>
      <p:ext uri="{BB962C8B-B14F-4D97-AF65-F5344CB8AC3E}">
        <p14:creationId xmlns:p14="http://schemas.microsoft.com/office/powerpoint/2010/main" val="1574642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>
            <a:normAutofit/>
          </a:bodyPr>
          <a:lstStyle/>
          <a:p>
            <a:r>
              <a:rPr lang="en-US" dirty="0"/>
              <a:t>Describe your project briefly here with details on dataset, preprocessing steps, applied models, flowcharts, tables and figures</a:t>
            </a:r>
          </a:p>
          <a:p>
            <a:r>
              <a:rPr lang="en-US" dirty="0"/>
              <a:t>Add citation of the used dataset</a:t>
            </a:r>
          </a:p>
          <a:p>
            <a:r>
              <a:rPr lang="en-US" dirty="0"/>
              <a:t>Include the equations</a:t>
            </a:r>
          </a:p>
          <a:p>
            <a:r>
              <a:rPr lang="en-US" dirty="0"/>
              <a:t>Add figure and algorithm Custom model/algorithms</a:t>
            </a:r>
          </a:p>
          <a:p>
            <a:r>
              <a:rPr lang="en-US" dirty="0"/>
              <a:t>Include Flowchart of your complete system</a:t>
            </a:r>
          </a:p>
          <a:p>
            <a:r>
              <a:rPr lang="en-US" dirty="0"/>
              <a:t>Do not show any results in this section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208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030D0-4553-DB63-A3C3-D299D5764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165A6-4A07-C8C6-E6B7-CAF2B352C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Proposed System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6B9413-3B00-84A4-EB08-0F54AE9FF0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674" y="1219200"/>
            <a:ext cx="5332651" cy="1399922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648AEDC-BDC0-483F-B727-BE99F578C2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652" y="2843130"/>
            <a:ext cx="8392696" cy="11717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CF1527-E4EB-4C2F-A244-F712F368DA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4495800"/>
            <a:ext cx="4008120" cy="195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787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9665"/>
            <a:ext cx="8229600" cy="1143000"/>
          </a:xfrm>
        </p:spPr>
        <p:txBody>
          <a:bodyPr/>
          <a:lstStyle/>
          <a:p>
            <a:r>
              <a:rPr lang="en-US" dirty="0"/>
              <a:t>Results and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38200"/>
            <a:ext cx="9144000" cy="6019800"/>
          </a:xfrm>
        </p:spPr>
        <p:txBody>
          <a:bodyPr>
            <a:normAutofit/>
          </a:bodyPr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3200" dirty="0"/>
              <a:t>Most critical section of research paper 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3200" dirty="0"/>
              <a:t>Include all the results in this section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3200" dirty="0"/>
              <a:t>Add performance results (Accuracy, precision, recall, F1 score, </a:t>
            </a:r>
            <a:r>
              <a:rPr lang="en-US" sz="3200" dirty="0" err="1"/>
              <a:t>IoU</a:t>
            </a:r>
            <a:r>
              <a:rPr lang="en-US" sz="3200" dirty="0"/>
              <a:t>, </a:t>
            </a:r>
            <a:r>
              <a:rPr lang="en-US" sz="3200" dirty="0" err="1"/>
              <a:t>mAP</a:t>
            </a:r>
            <a:r>
              <a:rPr lang="en-US" sz="3200" dirty="0"/>
              <a:t>, etc.)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3200" dirty="0"/>
              <a:t>Add model results (# of parameters, model size, training time/epoch)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3200" dirty="0"/>
              <a:t>Add XAI interpretation</a:t>
            </a:r>
          </a:p>
          <a:p>
            <a:pPr marL="0" lvl="1" indent="0">
              <a:buNone/>
            </a:pPr>
            <a:r>
              <a:rPr lang="en-US" sz="3200" dirty="0"/>
              <a:t>LIME, SHAP, </a:t>
            </a:r>
            <a:r>
              <a:rPr lang="en-US" sz="3200" dirty="0" err="1"/>
              <a:t>GradCAM</a:t>
            </a:r>
            <a:r>
              <a:rPr lang="en-US" sz="3200" dirty="0"/>
              <a:t>, etc.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3200" dirty="0"/>
              <a:t>Add comparison table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3200" dirty="0"/>
              <a:t>Discuss the results too</a:t>
            </a:r>
          </a:p>
          <a:p>
            <a:endParaRPr lang="en-US" dirty="0"/>
          </a:p>
        </p:txBody>
      </p:sp>
      <p:pic>
        <p:nvPicPr>
          <p:cNvPr id="5" name="Picture 4" descr="A table with numbers and a few black text&#10;&#10;AI-generated content may be incorrect.">
            <a:extLst>
              <a:ext uri="{FF2B5EF4-FFF2-40B4-BE49-F238E27FC236}">
                <a16:creationId xmlns:a16="http://schemas.microsoft.com/office/drawing/2014/main" id="{234294B6-B403-66DE-CA0D-9521C4348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7983" y="3581400"/>
            <a:ext cx="4531603" cy="3224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516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7AB30-1CDF-B25B-5DCC-735409054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32846-DB10-4CE8-782D-9FD366742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9665"/>
            <a:ext cx="8229600" cy="1143000"/>
          </a:xfrm>
        </p:spPr>
        <p:txBody>
          <a:bodyPr/>
          <a:lstStyle/>
          <a:p>
            <a:r>
              <a:rPr lang="en-US" dirty="0"/>
              <a:t>Results and Discussion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1687-6463-3919-2553-F1919F407F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838200"/>
                <a:ext cx="9144000" cy="6019800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AutoNum type="arabicPeriod"/>
                </a:pPr>
                <a:r>
                  <a:rPr lang="en-US" sz="2400" dirty="0">
                    <a:latin typeface="Times New Roman"/>
                    <a:cs typeface="Times New Roman"/>
                  </a:rPr>
                  <a:t>Apply ALL the preprocessing techniques for the dataset.</a:t>
                </a:r>
                <a:endParaRPr lang="en-US" sz="2400" dirty="0">
                  <a:latin typeface="Aptos"/>
                  <a:cs typeface="Times New Roman"/>
                </a:endParaRPr>
              </a:p>
              <a:p>
                <a:pPr marL="457200" indent="-457200">
                  <a:buAutoNum type="arabicPeriod"/>
                </a:pPr>
                <a:r>
                  <a:rPr lang="en-US" sz="2400" dirty="0">
                    <a:latin typeface="Times New Roman"/>
                    <a:cs typeface="Times New Roman"/>
                  </a:rPr>
                  <a:t>Apply  pre-trained DL models, one model for each member.</a:t>
                </a:r>
                <a:endParaRPr lang="en-US" sz="2400" dirty="0"/>
              </a:p>
              <a:p>
                <a:pPr marL="457200" indent="-457200">
                  <a:buAutoNum type="arabicPeriod"/>
                </a:pPr>
                <a:r>
                  <a:rPr lang="en-US" sz="2400" dirty="0">
                    <a:latin typeface="Times New Roman"/>
                    <a:cs typeface="Times New Roman"/>
                  </a:rPr>
                  <a:t>Apply AT LEAST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𝑋</m:t>
                    </m:r>
                  </m:oMath>
                </a14:m>
                <a:r>
                  <a:rPr lang="en-US" sz="2400" dirty="0">
                    <a:latin typeface="Times New Roman"/>
                    <a:cs typeface="Times New Roman"/>
                  </a:rPr>
                  <a:t> Transformer models, ViT, Swin, Dino, PVT, </a:t>
                </a:r>
                <a:r>
                  <a:rPr lang="en-US" sz="2400" dirty="0" err="1">
                    <a:latin typeface="Times New Roman"/>
                    <a:cs typeface="Times New Roman"/>
                  </a:rPr>
                  <a:t>CvT</a:t>
                </a:r>
                <a:r>
                  <a:rPr lang="en-US" sz="2400" dirty="0">
                    <a:latin typeface="Times New Roman"/>
                    <a:cs typeface="Times New Roman"/>
                  </a:rPr>
                  <a:t>, etc.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/>
                      </a:rPr>
                      <m:t>𝑋</m:t>
                    </m:r>
                  </m:oMath>
                </a14:m>
                <a:r>
                  <a:rPr lang="en-US" sz="2400" dirty="0">
                    <a:latin typeface="Times New Roman"/>
                    <a:cs typeface="Times New Roman"/>
                  </a:rPr>
                  <a:t>: # of group members</a:t>
                </a:r>
              </a:p>
              <a:p>
                <a:pPr marL="457200" indent="-457200">
                  <a:buAutoNum type="arabicPeriod"/>
                </a:pPr>
                <a:r>
                  <a:rPr lang="en-US" sz="2400" dirty="0">
                    <a:latin typeface="Times New Roman"/>
                    <a:cs typeface="Times New Roman"/>
                  </a:rPr>
                  <a:t>Find accuracy, precision, recall, F1 score, etc. of ALL applied models.</a:t>
                </a:r>
              </a:p>
              <a:p>
                <a:pPr marL="457200" indent="-457200">
                  <a:buAutoNum type="arabicPeriod"/>
                </a:pPr>
                <a:r>
                  <a:rPr lang="en-US" sz="2400" dirty="0">
                    <a:latin typeface="Times New Roman"/>
                    <a:cs typeface="Times New Roman"/>
                  </a:rPr>
                  <a:t>Find model size, # of parameters and training time per epoch or total training time of ALL applied models.</a:t>
                </a:r>
                <a:endParaRPr lang="en-US" sz="2400" dirty="0"/>
              </a:p>
              <a:p>
                <a:pPr marL="457200" indent="-457200">
                  <a:buAutoNum type="arabicPeriod"/>
                </a:pPr>
                <a:r>
                  <a:rPr lang="en-US" sz="2400" dirty="0">
                    <a:latin typeface="Times New Roman"/>
                    <a:cs typeface="Times New Roman"/>
                  </a:rPr>
                  <a:t>Plot Normalized Confusion Matrix, Training and Validation Loss and Accuracy vs. epochs for the BEST model. </a:t>
                </a:r>
                <a:endParaRPr lang="en-US" sz="2400" dirty="0"/>
              </a:p>
              <a:p>
                <a:pPr marL="457200" indent="-457200">
                  <a:buAutoNum type="arabicPeriod"/>
                </a:pPr>
                <a:r>
                  <a:rPr lang="en-US" sz="2400" dirty="0">
                    <a:latin typeface="Times New Roman"/>
                    <a:cs typeface="Times New Roman"/>
                  </a:rPr>
                  <a:t>Apply data augmentation techniques for training samples and find the results similar to #3.</a:t>
                </a:r>
                <a:endParaRPr lang="en-US" sz="2400" dirty="0"/>
              </a:p>
              <a:p>
                <a:pPr marL="457200" indent="-457200">
                  <a:buAutoNum type="arabicPeriod"/>
                </a:pPr>
                <a:r>
                  <a:rPr lang="en-US" sz="2400" dirty="0">
                    <a:latin typeface="Times New Roman"/>
                    <a:cs typeface="Times New Roman"/>
                  </a:rPr>
                  <a:t>Apply Novelties and find the results similar to #3.</a:t>
                </a:r>
              </a:p>
              <a:p>
                <a:pPr marL="457200" indent="-457200">
                  <a:buAutoNum type="arabicPeriod"/>
                </a:pPr>
                <a:r>
                  <a:rPr lang="en-US" sz="2400" dirty="0">
                    <a:latin typeface="Times New Roman"/>
                    <a:cs typeface="Times New Roman"/>
                  </a:rPr>
                  <a:t>Apply XAI.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1687-6463-3919-2553-F1919F407F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838200"/>
                <a:ext cx="9144000" cy="6019800"/>
              </a:xfrm>
              <a:blipFill>
                <a:blip r:embed="rId2"/>
                <a:stretch>
                  <a:fillRect l="-867" t="-912" r="-17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68443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D02E2-21AD-4222-A219-934C9D6D3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399"/>
          </a:xfrm>
        </p:spPr>
        <p:txBody>
          <a:bodyPr/>
          <a:lstStyle/>
          <a:p>
            <a:r>
              <a:rPr lang="en-US" dirty="0"/>
              <a:t>Performance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6F700-24F1-4D32-AD12-4856F01CE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14400"/>
            <a:ext cx="8991600" cy="594360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74DF42-D2C0-43B5-B4B3-CBA26AED3D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9774" y="2133600"/>
            <a:ext cx="6863226" cy="47244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BBDCF0-905E-8E2F-E63F-5C4C0D579CEC}"/>
              </a:ext>
            </a:extLst>
          </p:cNvPr>
          <p:cNvSpPr txBox="1"/>
          <p:nvPr/>
        </p:nvSpPr>
        <p:spPr>
          <a:xfrm>
            <a:off x="0" y="650054"/>
            <a:ext cx="914399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Performance comparison of the proposed system with other existing works</a:t>
            </a:r>
          </a:p>
          <a:p>
            <a:r>
              <a:rPr lang="en-US" sz="2400" dirty="0"/>
              <a:t>Required both for software and hardware projects</a:t>
            </a:r>
          </a:p>
          <a:p>
            <a:r>
              <a:rPr lang="en-US" sz="2400" dirty="0"/>
              <a:t>At the end of the Results and Discussion section</a:t>
            </a:r>
          </a:p>
        </p:txBody>
      </p:sp>
    </p:spTree>
    <p:extLst>
      <p:ext uri="{BB962C8B-B14F-4D97-AF65-F5344CB8AC3E}">
        <p14:creationId xmlns:p14="http://schemas.microsoft.com/office/powerpoint/2010/main" val="34113282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D02E2-21AD-4222-A219-934C9D6D3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Ablation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6F700-24F1-4D32-AD12-4856F01CE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14400"/>
            <a:ext cx="8991600" cy="594360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74DF42-D2C0-43B5-B4B3-CBA26AED3D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8620" y="2174700"/>
            <a:ext cx="8634380" cy="342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1165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D02E2-21AD-4222-A219-934C9D6D3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TRAINING TIME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6F700-24F1-4D32-AD12-4856F01CE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14400"/>
            <a:ext cx="8991600" cy="5943600"/>
          </a:xfrm>
        </p:spPr>
        <p:txBody>
          <a:bodyPr/>
          <a:lstStyle/>
          <a:p>
            <a:r>
              <a:rPr lang="en-US" dirty="0"/>
              <a:t>Important for ML/DL related works</a:t>
            </a:r>
          </a:p>
          <a:p>
            <a:r>
              <a:rPr lang="en-US" dirty="0"/>
              <a:t>Mention where the training has been performed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4D3EA0ED-D09B-E12F-BACE-7986024CA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821" y="3810000"/>
            <a:ext cx="6789180" cy="309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9276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4525963"/>
          </a:xfrm>
        </p:spPr>
        <p:txBody>
          <a:bodyPr/>
          <a:lstStyle/>
          <a:p>
            <a:r>
              <a:rPr lang="en-US" dirty="0"/>
              <a:t>This is the final section of your CSE445/465 report</a:t>
            </a:r>
            <a:r>
              <a:rPr lang="x-none" dirty="0"/>
              <a:t>. </a:t>
            </a:r>
            <a:endParaRPr lang="en-US" dirty="0"/>
          </a:p>
          <a:p>
            <a:r>
              <a:rPr lang="en-US" dirty="0"/>
              <a:t>In this section, you can write two or three future works.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4047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937</Words>
  <Application>Microsoft Office PowerPoint</Application>
  <PresentationFormat>On-screen Show (4:3)</PresentationFormat>
  <Paragraphs>104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Calibri</vt:lpstr>
      <vt:lpstr>Cambria Math</vt:lpstr>
      <vt:lpstr>Times New Roman</vt:lpstr>
      <vt:lpstr>Office Theme</vt:lpstr>
      <vt:lpstr>CSE445/465 Final Report</vt:lpstr>
      <vt:lpstr>Final Report</vt:lpstr>
      <vt:lpstr>CSE465 Final Report</vt:lpstr>
      <vt:lpstr>LaTeX</vt:lpstr>
      <vt:lpstr>CSE445/465 Final Report</vt:lpstr>
      <vt:lpstr>Abstract</vt:lpstr>
      <vt:lpstr>Abstract</vt:lpstr>
      <vt:lpstr>Introduction</vt:lpstr>
      <vt:lpstr>Proposed System</vt:lpstr>
      <vt:lpstr>Proposed System</vt:lpstr>
      <vt:lpstr>Results and Discussion</vt:lpstr>
      <vt:lpstr>Results and Discussion</vt:lpstr>
      <vt:lpstr>Performance comparison</vt:lpstr>
      <vt:lpstr>Ablation Study</vt:lpstr>
      <vt:lpstr>TRAINING TIME RESULTS</vt:lpstr>
      <vt:lpstr>Conclusions</vt:lpstr>
    </vt:vector>
  </TitlesOfParts>
  <Company>FIU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Senior Design Project Proposal Report</dc:title>
  <dc:creator>Riasat</dc:creator>
  <cp:lastModifiedBy>Barshon Basak</cp:lastModifiedBy>
  <cp:revision>23</cp:revision>
  <dcterms:created xsi:type="dcterms:W3CDTF">2020-07-29T06:06:38Z</dcterms:created>
  <dcterms:modified xsi:type="dcterms:W3CDTF">2026-08-21T07:29:04Z</dcterms:modified>
</cp:coreProperties>
</file>